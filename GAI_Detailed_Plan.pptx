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61520" cy="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743200"/>
            <a:ext cx="12161520" cy="54864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02920"/>
            <a:ext cx="2377440" cy="347472"/>
          </a:xfrm>
          <a:prstGeom prst="rect">
            <a:avLst/>
          </a:prstGeom>
          <a:solidFill>
            <a:srgbClr val="00C8FF">
              <a:alpha val="15000"/>
            </a:srgbClr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GREAVES COTTON  |  AI CoE  | 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200" dirty="0"/>
          </a:p>
        </p:txBody>
      </p:sp>
      <p:sp>
        <p:nvSpPr>
          <p:cNvPr id="29" name="Text 27"/>
          <p:cNvSpPr/>
          <p:nvPr/>
        </p:nvSpPr>
        <p:spPr>
          <a:xfrm>
            <a:off x="640080" y="1755648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OPTIMIZATION SYSTEM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Solutions BU  |  Genset Business  |  Full Technical Execution Blueprint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429000"/>
            <a:ext cx="2743200" cy="822960"/>
          </a:xfrm>
          <a:prstGeom prst="rect">
            <a:avLst/>
          </a:prstGeom>
          <a:solidFill>
            <a:srgbClr val="162C4A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3456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₹18–25 Cr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Revenue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3429000"/>
            <a:ext cx="2743200" cy="822960"/>
          </a:xfrm>
          <a:prstGeom prst="rect">
            <a:avLst/>
          </a:prstGeom>
          <a:solidFill>
            <a:srgbClr val="162C4A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566160" y="3456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Months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56616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3429000"/>
            <a:ext cx="2743200" cy="822960"/>
          </a:xfrm>
          <a:prstGeom prst="rect">
            <a:avLst/>
          </a:prstGeom>
          <a:solidFill>
            <a:srgbClr val="162C4A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92240" y="3456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Less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922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480560"/>
            <a:ext cx="5029200" cy="685800"/>
          </a:xfrm>
          <a:prstGeom prst="rect">
            <a:avLst/>
          </a:prstGeom>
          <a:solidFill>
            <a:srgbClr val="0D1F3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5262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&amp; Project Manager  |  AI CoE, Greaves Cotton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Strategy Document  |  May 2026</a:t>
            </a:r>
            <a:endParaRPr lang="en-US" sz="10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9144000" y="1371600"/>
            <a:ext cx="2560320" cy="2560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243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243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&amp; Business 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572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points, opportunity sizing, and revenue model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295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295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24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design, data flows, and agent topology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3756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3467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Selection &amp;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675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choices, fine-tuning, serving infrastructure, and evaluation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38912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3982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398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IoT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727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setup, ingestion pipeline, feature store, and RAG knowledge base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539496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544068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54498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5449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Deep-Dive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5779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LangGraph/n8n workflows, agent roles, human-in-the-loop gates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118872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23444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1243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1243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Execution &amp; Delivery Plan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1572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plan, team structure, milestones, and quality gates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224028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28600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2295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86600" y="2295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Breakdown (Detailed)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2624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cost model, cloud estimates, and 15x ROI math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29184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333756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2" name="Text 40"/>
          <p:cNvSpPr/>
          <p:nvPr/>
        </p:nvSpPr>
        <p:spPr>
          <a:xfrm>
            <a:off x="6510528" y="33467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86600" y="3346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Governance &amp; Compliance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86600" y="3675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AI explainability, bias, and change management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4343400"/>
            <a:ext cx="5486400" cy="9144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09360" y="4389120"/>
            <a:ext cx="64008" cy="8229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7" name="Text 45"/>
          <p:cNvSpPr/>
          <p:nvPr/>
        </p:nvSpPr>
        <p:spPr>
          <a:xfrm>
            <a:off x="6510528" y="43982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086600" y="4398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Post-Launch: Maintenance &amp; Scaling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86600" y="4727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MLOps, model drift, observability, and horizontal expansion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CONTEXT &amp; BUSINESS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Data and Revenue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697480" cy="2834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64008" cy="27432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097280"/>
            <a:ext cx="2697480" cy="2834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143000"/>
            <a:ext cx="64008" cy="27432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2697480" cy="2834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143000"/>
            <a:ext cx="64008" cy="27432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0" y="1097280"/>
            <a:ext cx="2697480" cy="2834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0" y="1143000"/>
            <a:ext cx="64008" cy="27432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4160520"/>
            <a:ext cx="11155680" cy="54864"/>
          </a:xfrm>
          <a:prstGeom prst="rect">
            <a:avLst/>
          </a:prstGeom>
          <a:solidFill>
            <a:srgbClr val="00D084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OPPORTUNITY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2697480" cy="987552"/>
          </a:xfrm>
          <a:prstGeom prst="rect">
            <a:avLst/>
          </a:prstGeom>
          <a:solidFill>
            <a:srgbClr val="0A2540"/>
          </a:solidFill>
          <a:ln w="10160">
            <a:solidFill>
              <a:srgbClr val="00D08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590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₹18–25 Cr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50657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Aftermarket Revenue (Yr 1)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4572000"/>
            <a:ext cx="2697480" cy="987552"/>
          </a:xfrm>
          <a:prstGeom prst="rect">
            <a:avLst/>
          </a:prstGeom>
          <a:solidFill>
            <a:srgbClr val="0A2540"/>
          </a:solidFill>
          <a:ln w="10160">
            <a:solidFill>
              <a:srgbClr val="00D08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4590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50657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Repeat Site Visits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4572000"/>
            <a:ext cx="2697480" cy="987552"/>
          </a:xfrm>
          <a:prstGeom prst="rect">
            <a:avLst/>
          </a:prstGeom>
          <a:solidFill>
            <a:srgbClr val="0A2540"/>
          </a:solidFill>
          <a:ln w="10160">
            <a:solidFill>
              <a:srgbClr val="00D08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4590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₹1–2 Cr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50657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Parts Revenue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0" y="4572000"/>
            <a:ext cx="2697480" cy="987552"/>
          </a:xfrm>
          <a:prstGeom prst="rect">
            <a:avLst/>
          </a:prstGeom>
          <a:solidFill>
            <a:srgbClr val="0A2540"/>
          </a:solidFill>
          <a:ln w="10160">
            <a:solidFill>
              <a:srgbClr val="00D08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4590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35440" y="506577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70432"/>
            <a:ext cx="457200" cy="4572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40080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Parts &amp; AMC Revenue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00800" y="21488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~₹1–2 Cr/yr in parts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lost to 3rd-party dealers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no proactive outreach.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Revenue leakage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erosion.</a:t>
            </a:r>
            <a:endParaRPr lang="en-US" sz="9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70432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52044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Service Scheduling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3520440" y="21488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engineers rely 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calls and periodic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checkups — purely reactive.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Repeat site visits,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escalations, high OpEx.</a:t>
            </a:r>
            <a:endParaRPr lang="en-US" sz="9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432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4008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Sensor Data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640080" y="21488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Gensets emit CAN-bus, Modbus,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J1939 fault codes via proprietary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with no unified store.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single view of fleet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health; technicians work blind.</a:t>
            </a:r>
            <a:endParaRPr lang="en-US" sz="9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170432"/>
            <a:ext cx="457200" cy="4572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281160" y="1691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9281160" y="21488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failures (alternator,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cooling, AVR) arrive without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warning. MTTR = 8–24 hrs.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Customer SLA breach,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clauses, churn risk.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SOLUTION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Agentic AI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1024128"/>
          </a:xfrm>
          <a:prstGeom prst="rect">
            <a:avLst/>
          </a:prstGeom>
          <a:solidFill>
            <a:srgbClr val="162C4A"/>
          </a:solidFill>
          <a:ln w="1016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97280"/>
            <a:ext cx="2377440" cy="1024128"/>
          </a:xfrm>
          <a:prstGeom prst="rect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188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EDGE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Genset Hardware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170432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Modbus/J1939/CAN → Raspberry Pi 4 Edge Node → MQTT publish. Local anomaly pre-filter with TinyML (TensorFlow Lite). 4G/LTE uplink. Sends only delta events.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11155680" cy="1024128"/>
          </a:xfrm>
          <a:prstGeom prst="rect">
            <a:avLst/>
          </a:prstGeom>
          <a:solidFill>
            <a:srgbClr val="162C4A"/>
          </a:solidFill>
          <a:ln w="10160">
            <a:solidFill>
              <a:srgbClr val="00C8FF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02412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212848"/>
            <a:ext cx="2377440" cy="1024128"/>
          </a:xfrm>
          <a:prstGeom prst="rect">
            <a:avLst/>
          </a:prstGeom>
          <a:solidFill>
            <a:srgbClr val="00C8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INGESTION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2286000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Hub → Event Hubs. Stream processor: Apache Flink (real-time). Batch: Azure Data Factory. Lands to Bronze/Silver/Gold Delta Lake. PII masking at ingest.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328416"/>
            <a:ext cx="11155680" cy="1024128"/>
          </a:xfrm>
          <a:prstGeom prst="rect">
            <a:avLst/>
          </a:prstGeom>
          <a:solidFill>
            <a:srgbClr val="162C4A"/>
          </a:solidFill>
          <a:ln w="10160">
            <a:solidFill>
              <a:srgbClr val="7C5CBF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328416"/>
            <a:ext cx="64008" cy="102412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328416"/>
            <a:ext cx="2377440" cy="1024128"/>
          </a:xfrm>
          <a:prstGeom prst="rect">
            <a:avLst/>
          </a:prstGeom>
          <a:solidFill>
            <a:srgbClr val="7C5CBF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419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AI/ML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3785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3401568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(XGBoost + LSTM ensemble). LLM: Meta Llama 3.1 70B (Azure India vLLM). RAG: PGVector knowledge base (manuals, service history). Fine-tuned on Greaves' fault taxonomy.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443984"/>
            <a:ext cx="11155680" cy="1024128"/>
          </a:xfrm>
          <a:prstGeom prst="rect">
            <a:avLst/>
          </a:prstGeom>
          <a:solidFill>
            <a:srgbClr val="162C4A"/>
          </a:solidFill>
          <a:ln w="10160">
            <a:solidFill>
              <a:srgbClr val="FFB800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443984"/>
            <a:ext cx="64008" cy="102412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443984"/>
            <a:ext cx="2377440" cy="1024128"/>
          </a:xfrm>
          <a:prstGeom prst="rect">
            <a:avLst/>
          </a:prstGeom>
          <a:solidFill>
            <a:srgbClr val="FFB800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535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AGENTS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" y="49011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4517136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multi-agent: DiagnosticAgent → SchedulerAgent → InventoryAgent → SalesAgent. n8n Enterprise for no-code trigger rules. Human-in-the-loop gates for high-risk actions.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559552"/>
            <a:ext cx="11155680" cy="1024128"/>
          </a:xfrm>
          <a:prstGeom prst="rect">
            <a:avLst/>
          </a:prstGeom>
          <a:solidFill>
            <a:srgbClr val="162C4A"/>
          </a:solidFill>
          <a:ln w="10160">
            <a:solidFill>
              <a:srgbClr val="00D084">
                <a:alpha val="6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5559552"/>
            <a:ext cx="64008" cy="1024128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5559552"/>
            <a:ext cx="2377440" cy="1024128"/>
          </a:xfrm>
          <a:prstGeom prst="rect">
            <a:avLst/>
          </a:prstGeom>
          <a:solidFill>
            <a:srgbClr val="00D084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5650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CHANNELS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8368" y="6016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017520" y="5632704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Tech: WhatsApp Business API chatbot. Service Manager: Progressive Web App (PWA) dashboard. Customer: Automated SMS/Email alerts. Sales: CRM auto-insert (Salesforce/Zoho).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END-TO-END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Sensor Pulse to Commercial 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554480" cy="1143000"/>
          </a:xfrm>
          <a:prstGeom prst="rect">
            <a:avLst/>
          </a:prstGeom>
          <a:solidFill>
            <a:srgbClr val="00A896">
              <a:alpha val="18000"/>
            </a:srgbClr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RPM, Temp, Volt,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Press, Fault Codes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805940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234440"/>
            <a:ext cx="1554480" cy="1143000"/>
          </a:xfrm>
          <a:prstGeom prst="rect">
            <a:avLst/>
          </a:prstGeom>
          <a:solidFill>
            <a:srgbClr val="00C8FF">
              <a:alpha val="18000"/>
            </a:srgbClr>
          </a:solidFill>
          <a:ln w="1524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(RPi 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1805940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234440"/>
            <a:ext cx="1554480" cy="1143000"/>
          </a:xfrm>
          <a:prstGeom prst="rect">
            <a:avLst/>
          </a:prstGeom>
          <a:solidFill>
            <a:srgbClr val="7C5CBF">
              <a:alpha val="18000"/>
            </a:srgbClr>
          </a:solidFill>
          <a:ln w="1524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stream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97880" y="1805940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1234440"/>
            <a:ext cx="1554480" cy="1143000"/>
          </a:xfrm>
          <a:prstGeom prst="rect">
            <a:avLst/>
          </a:prstGeom>
          <a:solidFill>
            <a:srgbClr val="FFB800">
              <a:alpha val="18000"/>
            </a:srgbClr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 Layer)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18120" y="1805940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1234440"/>
            <a:ext cx="1554480" cy="1143000"/>
          </a:xfrm>
          <a:prstGeom prst="rect">
            <a:avLst/>
          </a:prstGeom>
          <a:solidFill>
            <a:srgbClr val="FF6B2B">
              <a:alpha val="18000"/>
            </a:srgbClr>
          </a:solidFill>
          <a:ln w="15240">
            <a:solidFill>
              <a:srgbClr val="FF6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XGBoost+LSTM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70B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38360" y="1805940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268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04120" y="1234440"/>
            <a:ext cx="1554480" cy="1143000"/>
          </a:xfrm>
          <a:prstGeom prst="rect">
            <a:avLst/>
          </a:prstGeom>
          <a:solidFill>
            <a:srgbClr val="00D084">
              <a:alpha val="18000"/>
            </a:srgbClr>
          </a:solidFill>
          <a:ln w="15240">
            <a:solidFill>
              <a:srgbClr val="00D0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49840" y="1298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49840" y="18013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26060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CHANNELS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2944368"/>
            <a:ext cx="2176272" cy="1170432"/>
          </a:xfrm>
          <a:prstGeom prst="rect">
            <a:avLst/>
          </a:prstGeom>
          <a:solidFill>
            <a:srgbClr val="0D2038"/>
          </a:solidFill>
          <a:ln w="10160">
            <a:solidFill>
              <a:srgbClr val="00D0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2648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Chatbot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" y="3364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tech gets step-by-step repair guide + spare parts list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34640" y="2944368"/>
            <a:ext cx="2176272" cy="1170432"/>
          </a:xfrm>
          <a:prstGeom prst="rect">
            <a:avLst/>
          </a:prstGeom>
          <a:solidFill>
            <a:srgbClr val="0D2038"/>
          </a:solidFill>
          <a:ln w="10160">
            <a:solidFill>
              <a:srgbClr val="00C8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44368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Dashboard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44368" y="3364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manager views fleet risk map, open WOs, SLA status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66360" y="2944368"/>
            <a:ext cx="2176272" cy="1170432"/>
          </a:xfrm>
          <a:prstGeom prst="rect">
            <a:avLst/>
          </a:prstGeom>
          <a:solidFill>
            <a:srgbClr val="0D2038"/>
          </a:solidFill>
          <a:ln w="10160">
            <a:solidFill>
              <a:srgbClr val="FFB80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76088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SMS/Email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76088" y="3364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pre-failure alert: 'Your genset needs service in 5 days'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2944368"/>
            <a:ext cx="2176272" cy="1170432"/>
          </a:xfrm>
          <a:prstGeom prst="rect">
            <a:avLst/>
          </a:prstGeom>
          <a:solidFill>
            <a:srgbClr val="0D2038"/>
          </a:solidFill>
          <a:ln w="10160">
            <a:solidFill>
              <a:srgbClr val="FF6B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07808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Auto-Insert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07808" y="3364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gets warm leads pre-loaded with parts recommendations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829800" y="2944368"/>
            <a:ext cx="2176272" cy="1170432"/>
          </a:xfrm>
          <a:prstGeom prst="rect">
            <a:avLst/>
          </a:prstGeom>
          <a:solidFill>
            <a:srgbClr val="0D2038"/>
          </a:solidFill>
          <a:ln w="10160">
            <a:solidFill>
              <a:srgbClr val="7C5CB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939528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Work Order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39528" y="3364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raise of WO in SAP/Odoo with parts &amp; tech assignment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4251960"/>
            <a:ext cx="11155680" cy="960120"/>
          </a:xfrm>
          <a:prstGeom prst="rect">
            <a:avLst/>
          </a:prstGeom>
          <a:solidFill>
            <a:srgbClr val="08183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315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5800" y="45720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filtering: Only 5–8% of raw sensor data reaches cloud (saves ~40% ingestion cost)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" y="472744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Bronze/Silver/Gold: Raw → Cleaned → Feature-ready. Upserts handled via MERGE.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" y="4882896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(PostgreSQL extension): Collocates relational + vector data; no separate Pinecone bill.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5800" y="5038344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DPDP-compliant: All PII (customer name, phone, location) masked at ingest layer before storage.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AI/ML MODEL SELECTION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Models for Each Job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514600" cy="347472"/>
          </a:xfrm>
          <a:prstGeom prst="rect">
            <a:avLst/>
          </a:prstGeom>
          <a:solidFill>
            <a:srgbClr val="7C5CB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78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1051560"/>
            <a:ext cx="2514600" cy="347472"/>
          </a:xfrm>
          <a:prstGeom prst="rect">
            <a:avLst/>
          </a:prstGeom>
          <a:solidFill>
            <a:srgbClr val="7C5CB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136392" y="1078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051560"/>
            <a:ext cx="2240280" cy="347472"/>
          </a:xfrm>
          <a:prstGeom prst="rect">
            <a:avLst/>
          </a:prstGeom>
          <a:solidFill>
            <a:srgbClr val="7C5CB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96712" y="10789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09560" y="1051560"/>
            <a:ext cx="1783080" cy="347472"/>
          </a:xfrm>
          <a:prstGeom prst="rect">
            <a:avLst/>
          </a:prstGeom>
          <a:solidFill>
            <a:srgbClr val="7C5CBF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82712" y="1078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1051560"/>
            <a:ext cx="1783080" cy="347472"/>
          </a:xfrm>
          <a:prstGeom prst="rect">
            <a:avLst/>
          </a:prstGeom>
          <a:solidFill>
            <a:srgbClr val="7C5CBF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11512" y="1078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444752"/>
            <a:ext cx="251460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149047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Failure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(Time-series)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63240" y="1444752"/>
            <a:ext cx="251460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149047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LSTM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1444752"/>
            <a:ext cx="22402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96712" y="1490472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handles tabular sensor features; LSTM captures temporal degradation patterns. Ensemble reduces variance.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09560" y="1444752"/>
            <a:ext cx="17830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1490472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Managed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(real-time)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38360" y="1444752"/>
            <a:ext cx="17830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1512" y="1490472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(anomaly only)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2322576"/>
            <a:ext cx="251460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36829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Q&amp;A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2322576"/>
            <a:ext cx="251460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236829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3.1 70B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(Quantized)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2322576"/>
            <a:ext cx="22402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96712" y="2368296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open weights at 70B. DPDP-compliant (Azure India region). 60% cheaper than GPT-4o. 128K context for manuals.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09560" y="2322576"/>
            <a:ext cx="17830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236829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on Azure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NDv4 A100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38360" y="2322576"/>
            <a:ext cx="17830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11512" y="236829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(latency fallback)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200400"/>
            <a:ext cx="251460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324612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63240" y="3200400"/>
            <a:ext cx="251460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24612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(Sentence-BERT)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23560" y="3200400"/>
            <a:ext cx="22402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96712" y="3246120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embeddings. Runs on CPU. Fast for semantic search over service manuals &amp; WO history.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09560" y="3200400"/>
            <a:ext cx="17830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3246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38360" y="3200400"/>
            <a:ext cx="17830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11512" y="3246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BGE-small-en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078224"/>
            <a:ext cx="251460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412394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63240" y="4078224"/>
            <a:ext cx="251460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36392" y="412394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(DistilBERT)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23560" y="4078224"/>
            <a:ext cx="22402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96712" y="4123944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Greaves fault taxonomy has ~2,800 codes. DistilBERT fine-tuned on historical WOs. 94%+ accuracy.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09560" y="4078224"/>
            <a:ext cx="17830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82712" y="412394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(edge-capable)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38360" y="4078224"/>
            <a:ext cx="17830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11512" y="412394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lookup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4956048"/>
            <a:ext cx="251460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" y="5001768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Demand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063240" y="4956048"/>
            <a:ext cx="251460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36392" y="5001768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23560" y="4956048"/>
            <a:ext cx="22402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96712" y="5001768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captures seasonality (monsoon, harvest season). XGBoost layers in asset-age features.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09560" y="4956048"/>
            <a:ext cx="17830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82712" y="5001768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Azure 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(nightly)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738360" y="4956048"/>
            <a:ext cx="1783080" cy="822960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11512" y="5001768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 rolling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5833872"/>
            <a:ext cx="251460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" y="587959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Outreach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063240" y="5833872"/>
            <a:ext cx="251460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36392" y="587959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623560" y="5833872"/>
            <a:ext cx="22402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96712" y="5879592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for personalized SMS/email generation. Runs cheaply on A10 GPU.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909560" y="5833872"/>
            <a:ext cx="17830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82712" y="5879592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serverless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738360" y="5833872"/>
            <a:ext cx="1783080" cy="822960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5879592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MODEL DEPLOYMENT DEEP-DIVE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Quantization &amp; Serving Config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577840" cy="5120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50292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247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SERVING — Llama 3.1 70B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4-bit (reduces VRAM from 140 GB → ~40 GB, fits 2× A100 80GB)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002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Engine: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2002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v0.4+ with continuous batching and PagedAttention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432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0" y="2432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Standard_ND96amsr_A100_v4 (2× A100 80GB, ~₹420/hr reserved)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tokens/sec at 4-bit; target P90 latency &lt; 2s for diagnostic queries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 tokens (enough for 50-page service manual section + conversation)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3721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with K8s HPA (scale 1→4 replicas on CPU queue)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151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4151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 with rate limiting (100 req/min free tier guard)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4581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4581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traces + Azure Monitor for token usage and cost alerting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" y="5010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0" y="5010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70B latency &gt; 4s, route to Llama 3.1 8B on A10 (~₹85/hr)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prefix caching for system prompt (saves ~30% redundant compute)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051560"/>
            <a:ext cx="5486400" cy="246888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1097280"/>
            <a:ext cx="64008" cy="2377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11247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— Azure ML Endpoints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157276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LSTM ensemble packaged as MLflow model, registered in Azure ML Model Registry.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1911096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endpoint: Standard_DS3_v2 (4 vCPU, 14 GB RAM) — handles 500 predictions/min.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224942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endpoint: Nightly inference on full fleet (~8,000 gensets) using Azure ML pipelines.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258775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built-in: new model candidate gets 10% traffic via endpoint traffic split.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2926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Auto-retraining pipeline triggers if F1 score on held-out test drops below 0.82.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32644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for DistilBERT fault classifier enables edge deployment on RPi 4 (CPU only).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657600"/>
            <a:ext cx="5486400" cy="25146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3703320"/>
            <a:ext cx="64008" cy="242316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7307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— Raspberry Pi 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4114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Raspberry Pi OS Lite 64-bit. Docker containerized microservices.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4407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(TFLite) model: anomaly pre-filter (binary classifier, &lt;5ms inference).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47000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ONNX: local fault code classification without cloud round-trip.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4992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broker: Mosquitto, publishes to Azure IoT Hub via TLS/MQTTS.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52852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updates: Azure IoT Hub Device Update (FOTA) for model and firmware rollouts.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92240" y="5577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Watchdog: systemd service restart on failure; heartbeat ping every 60s.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92240" y="58704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buffer: SQLite stores 72hr of data if connectivity lost; sync on reconnect.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DATA ENGINEERING &amp; IoT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Unified Intelligence Foundation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639312" cy="5120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5029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Raspberry Pi 4 (4GB RAM) per genset site. Total 500 pilots (Phase 1).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Protocols: Modbus RTU (RS-485) for older gensets; CAN-bus J1939 for newer DG sets.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Adapter: USB-to-RS485 converter (₹450 each) + custom Python driver.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Existing sensors (temp, RPM, voltage). Additional: current clamp + vibration MEMS (MPU-6050, ₹220).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 Airtel IoT SIM (NB-IoT/4G). Failover: local WiFi if available.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PoE or DC from genset battery with UPS buffer (keeps Pi alive during genset off).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Enclosure: IP54 rated DIN-rail box for industrial environments.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85800" y="53492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time: 2.5 hrs per unit. Certified service engineers install; checklist-based commissioning.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343400" y="1051560"/>
            <a:ext cx="3639312" cy="5120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097280"/>
            <a:ext cx="64008" cy="5029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15087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Ingestion: Azure IoT Hub (S2 tier, 6M msgs/day). Event Hubs for fan-out.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526280" y="205740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processing: Apache Flink on Azure HDInsight. Tumbling windows: 5-min aggregates.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26280" y="26060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layer: Raw time-series in Parquet (Delta Lake, ADLS Gen2). 90-day retention.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526280" y="31546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layer: Cleaned, standardized schema. Null imputation, outlier flagging, unit normalization.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526280" y="370332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Feature-engineered. Rolling stats (mean, std, trend over 1h, 6h, 24h windows).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26280" y="42519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store: Feast (open-source) for point-in-time correct feature retrieval for ML training.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Azure Data Factory for ERP/CRM/WO data ingestion (daily sync).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526280" y="53492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Apache Airflow (on AKS) for pipeline DAGs. SLA alerting on data delays.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183880" y="1051560"/>
            <a:ext cx="3639312" cy="5120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1097280"/>
            <a:ext cx="64008" cy="50292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15087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Service manuals (PDF), fault code dictionaries, historical WO resolutions, parts catalogs.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366760" y="205740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corpus: ~12,000 pages across 45 genset models.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366760" y="26060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Recursive text splitter, 512 tokens with 64-token overlap.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8366760" y="31546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all-MiniLM-L6-v2 (runs on CPU, 384 dims).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366760" y="370332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PGVector extension on PostgreSQL 15 (Azure DB for PostgreSQL Flexible).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8366760" y="42519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Cosine similarity + BM25 keyword fallback (pgvector + pg_trgm).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366760" y="480060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Refresh: New manuals indexed via automated pipeline triggered by document upload to Azure Blob.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366760" y="534924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Reranking: Cross-encoder (ms-marco-MiniLM) for top-20 → top-5 final retrieval.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AGENTIC ORCHESTRATION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Workflow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176272" cy="2377440"/>
          </a:xfrm>
          <a:prstGeom prst="rect">
            <a:avLst/>
          </a:prstGeom>
          <a:solidFill>
            <a:srgbClr val="00A896">
              <a:alpha val="12000"/>
            </a:srgbClr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78992"/>
            <a:ext cx="2176272" cy="411480"/>
          </a:xfrm>
          <a:prstGeom prst="rect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Watchdog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1847088"/>
            <a:ext cx="20299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MQTT/IoT Hub. Applies ML predictions every 5 min. Raises alert if risk score &gt; 0.75. Deduplicated via Redis.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6072" y="3493008"/>
            <a:ext cx="2029968" cy="256032"/>
          </a:xfrm>
          <a:prstGeom prst="rect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350215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Sensor event / batch score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79192" y="2267712"/>
            <a:ext cx="155448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214884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34640" y="1078992"/>
            <a:ext cx="2176272" cy="2377440"/>
          </a:xfrm>
          <a:prstGeom prst="rect">
            <a:avLst/>
          </a:prstGeom>
          <a:solidFill>
            <a:srgbClr val="00C8FF">
              <a:alpha val="12000"/>
            </a:srgbClr>
          </a:solidFill>
          <a:ln w="1524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1078992"/>
            <a:ext cx="2176272" cy="411480"/>
          </a:xfrm>
          <a:prstGeom prst="rect">
            <a:avLst/>
          </a:prstGeom>
          <a:solidFill>
            <a:srgbClr val="00C8FF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0779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07792" y="1847088"/>
            <a:ext cx="20299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alert + asset history. Queries RAG knowledge base with fault context. Generates structured diagnosis: [component, severity, confidence, recommended actions].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07792" y="3493008"/>
            <a:ext cx="2029968" cy="256032"/>
          </a:xfrm>
          <a:prstGeom prst="rect">
            <a:avLst/>
          </a:prstGeom>
          <a:solidFill>
            <a:srgbClr val="00C8FF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07792" y="350215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MonitorAgent alert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10912" y="2267712"/>
            <a:ext cx="155448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214884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66360" y="1078992"/>
            <a:ext cx="2176272" cy="2377440"/>
          </a:xfrm>
          <a:prstGeom prst="rect">
            <a:avLst/>
          </a:prstGeom>
          <a:solidFill>
            <a:srgbClr val="7C5CBF">
              <a:alpha val="12000"/>
            </a:srgbClr>
          </a:solidFill>
          <a:ln w="1524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66360" y="1078992"/>
            <a:ext cx="2176272" cy="411480"/>
          </a:xfrm>
          <a:prstGeom prst="rect">
            <a:avLst/>
          </a:prstGeom>
          <a:solidFill>
            <a:srgbClr val="7C5CBF">
              <a:alpha val="3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951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Orchestrator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9512" y="1847088"/>
            <a:ext cx="20299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technician calendar (Google Cal API / n8n). Assigns nearest certified tech. Raises Work Order in ERP (SAP/Odoo REST). WhatsApp notifies tech with job card.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39512" y="3493008"/>
            <a:ext cx="2029968" cy="256032"/>
          </a:xfrm>
          <a:prstGeom prst="rect">
            <a:avLst/>
          </a:prstGeom>
          <a:solidFill>
            <a:srgbClr val="7C5CBF">
              <a:alpha val="2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239512" y="350215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DiagnosticAgent output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342632" y="2267712"/>
            <a:ext cx="155448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214884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0" y="1078992"/>
            <a:ext cx="2176272" cy="2377440"/>
          </a:xfrm>
          <a:prstGeom prst="rect">
            <a:avLst/>
          </a:prstGeom>
          <a:solidFill>
            <a:srgbClr val="FF6B2B">
              <a:alpha val="12000"/>
            </a:srgbClr>
          </a:solidFill>
          <a:ln w="15240">
            <a:solidFill>
              <a:srgbClr val="FF6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0" y="1078992"/>
            <a:ext cx="2176272" cy="411480"/>
          </a:xfrm>
          <a:prstGeom prst="rect">
            <a:avLst/>
          </a:prstGeom>
          <a:solidFill>
            <a:srgbClr val="FF6B2B">
              <a:alpha val="3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571232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InventoryAgent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7123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Coordinator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71232" y="1847088"/>
            <a:ext cx="20299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parts availability at depot vs. requirement. If OOS: triggers PO to supplier or flags manual escalation. Logs parts consumed to update demand forecast.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71232" y="3493008"/>
            <a:ext cx="2029968" cy="256032"/>
          </a:xfrm>
          <a:prstGeom prst="rect">
            <a:avLst/>
          </a:prstGeom>
          <a:solidFill>
            <a:srgbClr val="FF6B2B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571232" y="350215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SchedulerAgent WO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674352" y="2267712"/>
            <a:ext cx="155448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56648" y="214884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829800" y="1078992"/>
            <a:ext cx="2176272" cy="2377440"/>
          </a:xfrm>
          <a:prstGeom prst="rect">
            <a:avLst/>
          </a:prstGeom>
          <a:solidFill>
            <a:srgbClr val="00D084">
              <a:alpha val="12000"/>
            </a:srgbClr>
          </a:solidFill>
          <a:ln w="15240">
            <a:solidFill>
              <a:srgbClr val="00D0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29800" y="1078992"/>
            <a:ext cx="2176272" cy="411480"/>
          </a:xfrm>
          <a:prstGeom prst="rect">
            <a:avLst/>
          </a:prstGeom>
          <a:solidFill>
            <a:srgbClr val="00D084">
              <a:alpha val="3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902952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SalesAgent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90295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Capture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02952" y="1847088"/>
            <a:ext cx="20299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Post-service: AMC renewal check. If expiring in 90 days → draft personalized renewal email. Parts upsell: recommends next-likely-to-fail parts based on fleet cohort analysis.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902952" y="3493008"/>
            <a:ext cx="2029968" cy="256032"/>
          </a:xfrm>
          <a:prstGeom prst="rect">
            <a:avLst/>
          </a:prstGeom>
          <a:solidFill>
            <a:srgbClr val="00D084">
              <a:alpha val="2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902952" y="350215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WO closed / AMC check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" y="3931920"/>
            <a:ext cx="11155680" cy="1024128"/>
          </a:xfrm>
          <a:prstGeom prst="rect">
            <a:avLst/>
          </a:prstGeom>
          <a:solidFill>
            <a:srgbClr val="0A2540"/>
          </a:solidFill>
          <a:ln w="12700">
            <a:solidFill>
              <a:srgbClr val="FFB80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5800" y="40050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GATES  (Non-negotiable approval checkpoints)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" y="4343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WO (risk &gt; 0.90): Service Manager must approve before tech dispatch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" y="4617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&gt; ₹50,000: Procurement head approval via WhatsApp quick-reply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4343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communication: Sales manager spot-checks 15% of AI-drafted emails before send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4617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 deployment: MLOps engineer reviews metrics + A/B before promoting to production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5120640"/>
            <a:ext cx="11155680" cy="932688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02920" y="5166360"/>
            <a:ext cx="64008" cy="84124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51937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Enterprise: Trigger Automation (No-Code Layer for Business Rules)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5800" y="55046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 handle the business logic that doesn't need LLM: AMC expiry triggers, scheduled service reminders, SLA escalation timers, parts re-order thresholds, and WhatsApp message routing. LangGraph agents handle the AI-reasoning tasks. The two systems communicate via webhooks.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TEAM STRUCTURE &amp;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High-Impact Cell — Small, Accountable, Fast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975104" cy="347472"/>
          </a:xfrm>
          <a:prstGeom prst="rect">
            <a:avLst/>
          </a:prstGeom>
          <a:solidFill>
            <a:srgbClr val="00D084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78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512064" cy="347472"/>
          </a:xfrm>
          <a:prstGeom prst="rect">
            <a:avLst/>
          </a:prstGeom>
          <a:solidFill>
            <a:srgbClr val="00D084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87752" y="10789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051560"/>
            <a:ext cx="1609344" cy="347472"/>
          </a:xfrm>
          <a:prstGeom prst="rect">
            <a:avLst/>
          </a:prstGeom>
          <a:solidFill>
            <a:srgbClr val="00D084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136392" y="10789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/ Partner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78224" cy="347472"/>
          </a:xfrm>
          <a:prstGeom prst="rect">
            <a:avLst/>
          </a:prstGeom>
          <a:solidFill>
            <a:srgbClr val="00D084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07899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23960" y="1051560"/>
            <a:ext cx="3621024" cy="347472"/>
          </a:xfrm>
          <a:prstGeom prst="rect">
            <a:avLst/>
          </a:prstGeom>
          <a:solidFill>
            <a:srgbClr val="00D084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897112" y="107899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Required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444752"/>
            <a:ext cx="197510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149047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&amp; PM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514600" y="1444752"/>
            <a:ext cx="51206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49047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063240" y="1444752"/>
            <a:ext cx="160934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6392" y="14904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709160" y="1444752"/>
            <a:ext cx="407822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490472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LangGraph agent dev, model selection, stakeholder mgmt, sprint facilitation, vendor oversight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823960" y="1444752"/>
            <a:ext cx="362102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7112" y="149047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LangChain/LangGraph, Azure ML, MLflow, Agile PM, GenAI/RAG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2176272"/>
            <a:ext cx="197510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22199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Engineer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514600" y="2176272"/>
            <a:ext cx="51206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22219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063240" y="2176272"/>
            <a:ext cx="160934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222199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709160" y="2176272"/>
            <a:ext cx="407822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221992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pipeline (Flink/ADF), Delta Lake, feature store, PGVector RAG indexing, ERP/CRM integration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823960" y="2176272"/>
            <a:ext cx="362102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97112" y="222199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Kafka/Flink, SQL, Azure ADLS, REST APIs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2907792"/>
            <a:ext cx="197510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295351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514600" y="2907792"/>
            <a:ext cx="51206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7752" y="295351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063240" y="2907792"/>
            <a:ext cx="160934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392" y="295351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709160" y="2907792"/>
            <a:ext cx="407822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2953512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(XGBoost, LSTM, BERT fine-tune), Azure ML experiments, ONNX export, evaluation &amp; monitoring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823960" y="2907792"/>
            <a:ext cx="362102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97112" y="295351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PyTorch, Azure ML SDK, MLflow, ONNX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02920" y="3639312"/>
            <a:ext cx="197510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368503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Cloud Eng.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2514600" y="3639312"/>
            <a:ext cx="51206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87752" y="368503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3063240" y="3639312"/>
            <a:ext cx="160934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36392" y="368503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(on-demand)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709160" y="3639312"/>
            <a:ext cx="407822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3685032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 provisioning (Terraform), AKS setup, CI/CD (GitHub Actions), security hardening, WhatsApp API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823960" y="3639312"/>
            <a:ext cx="362102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97112" y="368503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Docker, K8s, GitHub Actions, Azure APIM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502920" y="4370832"/>
            <a:ext cx="197510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" y="441655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Developer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2514600" y="4370832"/>
            <a:ext cx="51206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87752" y="44165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3063240" y="4370832"/>
            <a:ext cx="160934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36392" y="441655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(on-demand)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709160" y="4370832"/>
            <a:ext cx="407822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416552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manager dashboard, WhatsApp chatbot flows, mobile-responsive field tech interface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8823960" y="4370832"/>
            <a:ext cx="3621024" cy="694944"/>
          </a:xfrm>
          <a:prstGeom prst="rect">
            <a:avLst/>
          </a:prstGeom>
          <a:solidFill>
            <a:srgbClr val="0D1F3C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97112" y="441655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React/Next.js, Tailwind, Progressive Web Apps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502920" y="5102352"/>
            <a:ext cx="197510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" y="514807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Steering Committee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2514600" y="5102352"/>
            <a:ext cx="51206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87752" y="514807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3063240" y="5102352"/>
            <a:ext cx="160934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36392" y="51480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(cross-functional)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4709160" y="5102352"/>
            <a:ext cx="407822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82312" y="5148072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diagnostic accuracy, review golden dataset labels, sign-off on alert thresholds, change management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8823960" y="5102352"/>
            <a:ext cx="3621024" cy="694944"/>
          </a:xfrm>
          <a:prstGeom prst="rect">
            <a:avLst/>
          </a:prstGeom>
          <a:solidFill>
            <a:srgbClr val="11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97112" y="514807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Service Engineering, Parts, Sales, Compliance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502920" y="5870448"/>
            <a:ext cx="11978640" cy="320040"/>
          </a:xfrm>
          <a:prstGeom prst="rect">
            <a:avLst/>
          </a:prstGeom>
          <a:solidFill>
            <a:srgbClr val="00D084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594360" y="5897880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 2.5 FTE Internal  +  1.0 FTE Partner  |  Estimated Monthly Burn: ₹14.5–16 Lakhs  |  6-Month Total Talent: ₹87–96 Lakhs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DELIVERY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Execution Plan — Sprints, Milestones &amp; Gates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474720" cy="384048"/>
          </a:xfrm>
          <a:prstGeom prst="rect">
            <a:avLst/>
          </a:prstGeom>
          <a:solidFill>
            <a:srgbClr val="00A896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78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12070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3474720" cy="384048"/>
          </a:xfrm>
          <a:prstGeom prst="rect">
            <a:avLst/>
          </a:prstGeom>
          <a:solidFill>
            <a:srgbClr val="7C5CBF">
              <a:alpha val="6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270248" y="1078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Autonomy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70248" y="12070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818120" y="1051560"/>
            <a:ext cx="4114800" cy="384048"/>
          </a:xfrm>
          <a:prstGeom prst="rect">
            <a:avLst/>
          </a:prstGeom>
          <a:solidFill>
            <a:srgbClr val="00D084">
              <a:alpha val="6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27848" y="1078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Revenue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27848" y="12070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1572768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00A89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162763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1–2)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17320" y="1664208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infra bootstrap (ADLS, IoT Hub, AKS)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pilot genset RPi deployments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MQTT connectivity validated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08760" y="2249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Data flowing from 10 units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596896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00A89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3–4)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417320" y="2688336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2651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Bronze/Silver Delta Lake pipeline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Flink streaming aggregations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WO data ingested from ERP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08760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30-day backfill complete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00A89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67588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5–6)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17320" y="3712464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baseline model trained (90-day WO data)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knowledge base indexed (service manuals)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DiagnosticAgent prototype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08760" y="4297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Diagnostic accuracy &gt; 80% on held-out set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4645152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00A89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70001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7–8)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17320" y="4736592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47000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3.1 70B vLLM deployed (4-bit AWQ)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pipeline integrated + tested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 trial: 5 techs using WhatsApp chatbot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08760" y="53218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Tech CSAT ≥ 3.8/5 on pilot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60520" y="1572768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7C5CB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51960" y="162763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9–10)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74920" y="1664208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SchedulerAgent + ERP Work Order integration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Technician mobile interface (PWA v1)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Alert-to-WO end-to-end test (50 units)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66360" y="2249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WO auto-raise success rate &gt; 90%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60520" y="2596896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7C5CB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25196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11–12)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2688336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2651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InventoryAgent + parts availability check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forecasting model (Prophet)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n8n AMC expiry trigger workflows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66360" y="3273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Parts OOS alerts working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160520" y="3621024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7C5CB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51960" y="367588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13–14)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74920" y="3712464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fleet expansion to 500 units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approval gates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AI WO vs manual (control group)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66360" y="4297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A/B shows ≥ 20% WO speed improvement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60520" y="4645152"/>
            <a:ext cx="345643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7C5CB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251960" y="470001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15–16)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74920" y="4736592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47000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dashboard (Grafana + LangSmith)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DPDP compliance audit + PII scrub verified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performance baseline locked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66360" y="53218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Compliance sign-off by legal team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818120" y="1572768"/>
            <a:ext cx="409651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00D08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909560" y="162763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17–20)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732520" y="1664208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23960" y="16276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SalesAgent live: AMC renewal outreach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Parts upsell engine (cohort-based reco)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auto-insert (Salesforce/Zoho) integration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823960" y="2249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₹1.5 Cr pipeline created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818120" y="2596896"/>
            <a:ext cx="4096512" cy="969264"/>
          </a:xfrm>
          <a:prstGeom prst="rect">
            <a:avLst/>
          </a:prstGeom>
          <a:solidFill>
            <a:srgbClr val="0D1F3C"/>
          </a:solidFill>
          <a:ln w="7620">
            <a:solidFill>
              <a:srgbClr val="00D08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90956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21–24)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732520" y="2688336"/>
            <a:ext cx="0" cy="804672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23960" y="2651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production launch (1,000+ units)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dashboard + ROI tracker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Post-launch hypercare (2-week war room)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823960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Gate: ₹3 Cr revenue attributed in Month 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DETAILED BUDGET BREAKDOWN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Investment: ₹1.45 Cr  →  ₹18–25 Cr Annualized Revenue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792224" cy="329184"/>
          </a:xfrm>
          <a:prstGeom prst="rect">
            <a:avLst/>
          </a:prstGeom>
          <a:solidFill>
            <a:srgbClr val="FFB800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789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1051560"/>
            <a:ext cx="3163824" cy="329184"/>
          </a:xfrm>
          <a:prstGeom prst="rect">
            <a:avLst/>
          </a:prstGeom>
          <a:solidFill>
            <a:srgbClr val="FFB8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404872" y="10789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32120" y="1051560"/>
            <a:ext cx="1792224" cy="329184"/>
          </a:xfrm>
          <a:prstGeom prst="rect">
            <a:avLst/>
          </a:prstGeom>
          <a:solidFill>
            <a:srgbClr val="FFB800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05272" y="10789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60920" y="1051560"/>
            <a:ext cx="1975104" cy="329184"/>
          </a:xfrm>
          <a:prstGeom prst="rect">
            <a:avLst/>
          </a:prstGeom>
          <a:solidFill>
            <a:srgbClr val="FFB800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434072" y="107899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/ Duration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372600" y="1051560"/>
            <a:ext cx="2249424" cy="329184"/>
          </a:xfrm>
          <a:prstGeom prst="rect">
            <a:avLst/>
          </a:prstGeom>
          <a:solidFill>
            <a:srgbClr val="FFB800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45752" y="10789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Total (₹)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42646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14356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31720" y="142646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143560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&amp; PM (Internal — opportunity cost)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32120" y="142646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4356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₹2,00,000/mo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60920" y="142646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14356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372600" y="142646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27464" y="14356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₹12,00,000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160934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16184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31720" y="160934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86584" y="161848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Engineer (Internal)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160934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86984" y="16184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₹1,50,000/mo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60920" y="160934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15784" y="161848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372600" y="160934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27464" y="161848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₹9,00,000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179222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18013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331720" y="179222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6584" y="18013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(50% shared)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32120" y="179222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18013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₹75,000/mo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60920" y="179222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180136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372600" y="179222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27464" y="18013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₹4,50,000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197510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" y="19842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31720" y="197510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86584" y="19842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DevOps/Cloud Partner (50% FTE)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32120" y="197510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6984" y="19842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₹1,20,000/mo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60920" y="197510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15784" y="198424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372600" y="197510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7464" y="19842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₹7,20,000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02920" y="215798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" y="21671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331720" y="215798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86584" y="216712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Partner (50% FTE)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532120" y="215798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86984" y="21671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₹90,000/mo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60920" y="215798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5784" y="216712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372600" y="215798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27464" y="21671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₹5,40,000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02920" y="234086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7784" y="23500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331720" y="234086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86584" y="235000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time (cross-functional, 10% BW × 5 people)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532120" y="234086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86984" y="23500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₹50,000/mo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60920" y="234086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15784" y="23500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9372600" y="234086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27464" y="23500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₹3,00,000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02920" y="252374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7784" y="25328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SUBTOTAL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331720" y="2523744"/>
            <a:ext cx="31638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86584" y="253288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532120" y="252374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86984" y="25328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360920" y="2523744"/>
            <a:ext cx="197510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15784" y="253288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9372600" y="2523744"/>
            <a:ext cx="22494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27464" y="253288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₹41,10,000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02920" y="270662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7784" y="27157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331720" y="270662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86584" y="27157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(4GB) + enclosure + adapters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532120" y="270662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86984" y="27157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₹9,500/unit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360920" y="270662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15784" y="271576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units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372600" y="270662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27464" y="27157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₹47,50,000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02920" y="288950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57784" y="28986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331720" y="288950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86584" y="28986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vibration sensor (MPU-6050) kits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532120" y="288950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86984" y="28986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₹450/unit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360920" y="288950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15784" y="289864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units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372600" y="288950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427464" y="28986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₹2,25,000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02920" y="307238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7784" y="30815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07238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386584" y="308152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Airtel IoT SIM + data plan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5532120" y="307238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586984" y="30815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₹200/mo/unit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7360920" y="307238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15784" y="308152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6 mo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9372600" y="307238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427464" y="30815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₹6,00,000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02920" y="325526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7784" y="32644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SUBTOTAL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331720" y="3255264"/>
            <a:ext cx="31638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386584" y="326440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532120" y="325526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586984" y="32644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360920" y="3255264"/>
            <a:ext cx="197510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15784" y="32644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9372600" y="3255264"/>
            <a:ext cx="22494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427464" y="32644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₹55,75,000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02920" y="343814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57784" y="34472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2331720" y="343814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86584" y="344728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Hub (S2 tier, 6M msgs/day)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532120" y="343814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586984" y="34472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₹95,000/mo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7360920" y="343814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415784" y="344728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9372600" y="343814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427464" y="344728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₹5,70,000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02920" y="362102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57784" y="36301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331720" y="362102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386584" y="36301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ADLS Gen2 + Compute (ADF, AKS, Flink)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5532120" y="362102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586984" y="36301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₹1,20,000/mo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7360920" y="362102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415784" y="363016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9372600" y="362102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427464" y="36301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₹7,20,000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02920" y="380390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7784" y="38130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2331720" y="380390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386584" y="38130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NDv4 A100 VM (LLM serving, 2 GPUs reserved)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5532120" y="380390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586984" y="38130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₹2,80,000/mo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7360920" y="380390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415784" y="381304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9372600" y="380390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427464" y="38130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₹16,80,000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502920" y="398678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57784" y="39959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2331720" y="398678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386584" y="399592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DB for PostgreSQL (PGVector)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5532120" y="398678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586984" y="39959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₹25,000/mo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7360920" y="398678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415784" y="399592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9372600" y="398678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427464" y="39959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502920" y="416966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57784" y="41788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2331720" y="416966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386584" y="417880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+ APIM + monitoring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5532120" y="416966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586984" y="41788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₹30,000/mo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7360920" y="416966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415784" y="41788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9372600" y="416966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427464" y="41788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₹1,80,000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502920" y="435254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57784" y="43616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SUBTOTAL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2331720" y="4352544"/>
            <a:ext cx="31638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386584" y="436168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5532120" y="435254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586984" y="43616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7360920" y="4352544"/>
            <a:ext cx="197510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415784" y="436168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9372600" y="4352544"/>
            <a:ext cx="22494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9427464" y="436168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₹33,00,000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502920" y="453542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57784" y="45445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2331720" y="453542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386584" y="45445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Enterprise (self-hosted, 5 users)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5532120" y="453542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5586984" y="45445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₹1,50,000/yr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7360920" y="453542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415784" y="454456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9372600" y="453542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9427464" y="45445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502920" y="471830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57784" y="47274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2331720" y="471830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386584" y="47274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(Twilio/Meta, ~50K msgs/mo)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5532120" y="471830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586984" y="47274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₹40,000/mo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7360920" y="471830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415784" y="472744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9372600" y="471830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9427464" y="47274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₹2,40,000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502920" y="490118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57784" y="49103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2331720" y="490118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386584" y="491032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(burst/fallback LLM inference)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5532120" y="490118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586984" y="49103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₹30,000/mo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7360920" y="490118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415784" y="491032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9372600" y="490118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427464" y="4910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₹1,80,000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502920" y="508406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57784" y="50932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2331720" y="508406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2386584" y="509320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(traces &amp; evaluation, Team plan)</a:t>
            </a:r>
            <a:endParaRPr lang="en-US" sz="800" dirty="0"/>
          </a:p>
        </p:txBody>
      </p:sp>
      <p:sp>
        <p:nvSpPr>
          <p:cNvPr id="219" name="Shape 217"/>
          <p:cNvSpPr/>
          <p:nvPr/>
        </p:nvSpPr>
        <p:spPr>
          <a:xfrm>
            <a:off x="5532120" y="508406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586984" y="50932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₹18,000/mo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7360920" y="508406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7415784" y="50932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9372600" y="508406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427464" y="50932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₹1,08,000</a:t>
            </a:r>
            <a:endParaRPr lang="en-US" sz="800" dirty="0"/>
          </a:p>
        </p:txBody>
      </p:sp>
      <p:sp>
        <p:nvSpPr>
          <p:cNvPr id="225" name="Shape 223"/>
          <p:cNvSpPr/>
          <p:nvPr/>
        </p:nvSpPr>
        <p:spPr>
          <a:xfrm>
            <a:off x="502920" y="526694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57784" y="52760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2331720" y="5266944"/>
            <a:ext cx="31638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386584" y="527608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 + Jira (dev tooling)</a:t>
            </a:r>
            <a:endParaRPr lang="en-US" sz="800" dirty="0"/>
          </a:p>
        </p:txBody>
      </p:sp>
      <p:sp>
        <p:nvSpPr>
          <p:cNvPr id="229" name="Shape 227"/>
          <p:cNvSpPr/>
          <p:nvPr/>
        </p:nvSpPr>
        <p:spPr>
          <a:xfrm>
            <a:off x="5532120" y="5266944"/>
            <a:ext cx="17922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5586984" y="527608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₹20,000/mo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7360920" y="5266944"/>
            <a:ext cx="197510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7415784" y="527608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33" name="Shape 231"/>
          <p:cNvSpPr/>
          <p:nvPr/>
        </p:nvSpPr>
        <p:spPr>
          <a:xfrm>
            <a:off x="9372600" y="5266944"/>
            <a:ext cx="2249424" cy="173736"/>
          </a:xfrm>
          <a:prstGeom prst="rect">
            <a:avLst/>
          </a:prstGeom>
          <a:solidFill>
            <a:srgbClr val="11224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9427464" y="527608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502920" y="544982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557784" y="54589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800" dirty="0"/>
          </a:p>
        </p:txBody>
      </p:sp>
      <p:sp>
        <p:nvSpPr>
          <p:cNvPr id="237" name="Shape 235"/>
          <p:cNvSpPr/>
          <p:nvPr/>
        </p:nvSpPr>
        <p:spPr>
          <a:xfrm>
            <a:off x="2331720" y="5449824"/>
            <a:ext cx="31638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386584" y="545896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 (SSL, DNS, monitoring SaaS)</a:t>
            </a:r>
            <a:endParaRPr lang="en-US" sz="800" dirty="0"/>
          </a:p>
        </p:txBody>
      </p:sp>
      <p:sp>
        <p:nvSpPr>
          <p:cNvPr id="239" name="Shape 237"/>
          <p:cNvSpPr/>
          <p:nvPr/>
        </p:nvSpPr>
        <p:spPr>
          <a:xfrm>
            <a:off x="5532120" y="5449824"/>
            <a:ext cx="17922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5586984" y="545896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₹10,000/mo</a:t>
            </a:r>
            <a:endParaRPr lang="en-US" sz="800" dirty="0"/>
          </a:p>
        </p:txBody>
      </p:sp>
      <p:sp>
        <p:nvSpPr>
          <p:cNvPr id="241" name="Shape 239"/>
          <p:cNvSpPr/>
          <p:nvPr/>
        </p:nvSpPr>
        <p:spPr>
          <a:xfrm>
            <a:off x="7360920" y="5449824"/>
            <a:ext cx="197510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415784" y="545896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43" name="Shape 241"/>
          <p:cNvSpPr/>
          <p:nvPr/>
        </p:nvSpPr>
        <p:spPr>
          <a:xfrm>
            <a:off x="9372600" y="5449824"/>
            <a:ext cx="2249424" cy="173736"/>
          </a:xfrm>
          <a:prstGeom prst="rect">
            <a:avLst/>
          </a:prstGeom>
          <a:solidFill>
            <a:srgbClr val="0D1F3C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9427464" y="54589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800" dirty="0"/>
          </a:p>
        </p:txBody>
      </p:sp>
      <p:sp>
        <p:nvSpPr>
          <p:cNvPr id="245" name="Shape 243"/>
          <p:cNvSpPr/>
          <p:nvPr/>
        </p:nvSpPr>
        <p:spPr>
          <a:xfrm>
            <a:off x="502920" y="563270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57784" y="56418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 SUBTOTAL</a:t>
            </a:r>
            <a:endParaRPr lang="en-US" sz="800" dirty="0"/>
          </a:p>
        </p:txBody>
      </p:sp>
      <p:sp>
        <p:nvSpPr>
          <p:cNvPr id="247" name="Shape 245"/>
          <p:cNvSpPr/>
          <p:nvPr/>
        </p:nvSpPr>
        <p:spPr>
          <a:xfrm>
            <a:off x="2331720" y="5632704"/>
            <a:ext cx="31638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2386584" y="56418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49" name="Shape 247"/>
          <p:cNvSpPr/>
          <p:nvPr/>
        </p:nvSpPr>
        <p:spPr>
          <a:xfrm>
            <a:off x="5532120" y="563270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5586984" y="564184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7360920" y="5632704"/>
            <a:ext cx="197510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7415784" y="564184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3" name="Shape 251"/>
          <p:cNvSpPr/>
          <p:nvPr/>
        </p:nvSpPr>
        <p:spPr>
          <a:xfrm>
            <a:off x="9372600" y="5632704"/>
            <a:ext cx="22494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9427464" y="56418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₹8,58,000</a:t>
            </a:r>
            <a:endParaRPr lang="en-US" sz="800" dirty="0"/>
          </a:p>
        </p:txBody>
      </p:sp>
      <p:sp>
        <p:nvSpPr>
          <p:cNvPr id="255" name="Shape 253"/>
          <p:cNvSpPr/>
          <p:nvPr/>
        </p:nvSpPr>
        <p:spPr>
          <a:xfrm>
            <a:off x="502920" y="581558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57784" y="58247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(8%)</a:t>
            </a:r>
            <a:endParaRPr lang="en-US" sz="800" dirty="0"/>
          </a:p>
        </p:txBody>
      </p:sp>
      <p:sp>
        <p:nvSpPr>
          <p:cNvPr id="257" name="Shape 255"/>
          <p:cNvSpPr/>
          <p:nvPr/>
        </p:nvSpPr>
        <p:spPr>
          <a:xfrm>
            <a:off x="2331720" y="5815584"/>
            <a:ext cx="31638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2386584" y="582472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9" name="Shape 257"/>
          <p:cNvSpPr/>
          <p:nvPr/>
        </p:nvSpPr>
        <p:spPr>
          <a:xfrm>
            <a:off x="5532120" y="5815584"/>
            <a:ext cx="17922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586984" y="58247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7360920" y="5815584"/>
            <a:ext cx="197510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7415784" y="582472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9372600" y="5815584"/>
            <a:ext cx="2249424" cy="173736"/>
          </a:xfrm>
          <a:prstGeom prst="rect">
            <a:avLst/>
          </a:prstGeom>
          <a:solidFill>
            <a:srgbClr val="0F2A48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427464" y="58247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₹11,07,000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502920" y="5998464"/>
            <a:ext cx="1792224" cy="173736"/>
          </a:xfrm>
          <a:prstGeom prst="rect">
            <a:avLst/>
          </a:prstGeom>
          <a:solidFill>
            <a:srgbClr val="FFB80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557784" y="60076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2331720" y="5998464"/>
            <a:ext cx="3163824" cy="173736"/>
          </a:xfrm>
          <a:prstGeom prst="rect">
            <a:avLst/>
          </a:prstGeom>
          <a:solidFill>
            <a:srgbClr val="FFB80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2386584" y="600760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5532120" y="5998464"/>
            <a:ext cx="1792224" cy="173736"/>
          </a:xfrm>
          <a:prstGeom prst="rect">
            <a:avLst/>
          </a:prstGeom>
          <a:solidFill>
            <a:srgbClr val="FFB80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586984" y="600760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7360920" y="5998464"/>
            <a:ext cx="1975104" cy="173736"/>
          </a:xfrm>
          <a:prstGeom prst="rect">
            <a:avLst/>
          </a:prstGeom>
          <a:solidFill>
            <a:srgbClr val="FFB80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7415784" y="60076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372600" y="5998464"/>
            <a:ext cx="2249424" cy="173736"/>
          </a:xfrm>
          <a:prstGeom prst="rect">
            <a:avLst/>
          </a:prstGeom>
          <a:solidFill>
            <a:srgbClr val="FFB800"/>
          </a:solidFill>
          <a:ln w="2540">
            <a:solidFill>
              <a:srgbClr val="1A3A5C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9427464" y="600760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₹1,49,50,000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502920" y="6419088"/>
            <a:ext cx="11155680" cy="274320"/>
          </a:xfrm>
          <a:prstGeom prst="rect">
            <a:avLst/>
          </a:prstGeom>
          <a:solidFill>
            <a:srgbClr val="00D084">
              <a:alpha val="18000"/>
            </a:srgbClr>
          </a:solidFill>
          <a:ln w="6350">
            <a:solidFill>
              <a:srgbClr val="00D084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94360" y="644652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₹1.5 Cr investment → ₹18–25 Cr Year-1 revenue uplift = 12–17x ROI  |  Payback &lt; 5 months  |  Excludes hardware as OpEx if leased</a:t>
            </a:r>
            <a:endParaRPr lang="en-US" sz="900" dirty="0"/>
          </a:p>
        </p:txBody>
      </p:sp>
      <p:sp>
        <p:nvSpPr>
          <p:cNvPr id="277" name="Text 275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RISK, GOVERNANCE &amp; 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AI Risk in an Industrial Context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249424" cy="320040"/>
          </a:xfrm>
          <a:prstGeom prst="rect">
            <a:avLst/>
          </a:prstGeom>
          <a:solidFill>
            <a:srgbClr val="FF4757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78992"/>
            <a:ext cx="2139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1051560"/>
            <a:ext cx="877824" cy="320040"/>
          </a:xfrm>
          <a:prstGeom prst="rect">
            <a:avLst/>
          </a:prstGeom>
          <a:solidFill>
            <a:srgbClr val="FF4757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862072" y="107899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1051560"/>
            <a:ext cx="786384" cy="320040"/>
          </a:xfrm>
          <a:prstGeom prst="rect">
            <a:avLst/>
          </a:prstGeom>
          <a:solidFill>
            <a:srgbClr val="FF4757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76472" y="1078992"/>
            <a:ext cx="676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1051560"/>
            <a:ext cx="6181344" cy="320040"/>
          </a:xfrm>
          <a:prstGeom prst="rect">
            <a:avLst/>
          </a:prstGeom>
          <a:solidFill>
            <a:srgbClr val="FF4757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078992"/>
            <a:ext cx="6071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744200" y="1051560"/>
            <a:ext cx="1335024" cy="320040"/>
          </a:xfrm>
          <a:prstGeom prst="rect">
            <a:avLst/>
          </a:prstGeom>
          <a:solidFill>
            <a:srgbClr val="FF4757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817352" y="1078992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417320"/>
            <a:ext cx="22494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1453896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— False positives trigger unnecessary service visits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788920" y="1417320"/>
            <a:ext cx="8778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1453896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703320" y="1417320"/>
            <a:ext cx="78638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145389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26280" y="1417320"/>
            <a:ext cx="618134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453896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SME-validated golden dataset (500 labeled WOs). Confidence threshold: only alerts where score &gt; 0.75 auto-dispatch. Feedback loop: technician confirms/rejects each alert; refeeds to training.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744200" y="1417320"/>
            <a:ext cx="13350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17352" y="1453896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 + SME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2039112"/>
            <a:ext cx="22494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075688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Non-Compliance — PII data exposure in logs or prompts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788920" y="2039112"/>
            <a:ext cx="8778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2075688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703320" y="2039112"/>
            <a:ext cx="78638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207568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526280" y="2039112"/>
            <a:ext cx="618134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2075688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at ingest (Azure Data Factory regex + NER model). LLM prompts never contain raw customer name/phone. Data stored only in Azure India Central region. Annual DPDP audit.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744200" y="2039112"/>
            <a:ext cx="13350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17352" y="2075688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+ Legal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2660904"/>
            <a:ext cx="22494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2697480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— Incorrect diagnostic advice leading to wrong repair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788920" y="2660904"/>
            <a:ext cx="8778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2697480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703320" y="2660904"/>
            <a:ext cx="78638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76472" y="269748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526280" y="2660904"/>
            <a:ext cx="618134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2697480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responses only (no free generation for diagnostic content). Source attribution displayed with every answer. Tech must confirm diagnosis before WO creation.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744200" y="2660904"/>
            <a:ext cx="13350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17352" y="269748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+ SME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02920" y="3282696"/>
            <a:ext cx="22494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3319272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Adoption Failure — Technicians don't use WhatsApp bot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2788920" y="3282696"/>
            <a:ext cx="8778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62072" y="3319272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3703320" y="3282696"/>
            <a:ext cx="78638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76472" y="3319272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526280" y="3282696"/>
            <a:ext cx="618134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9432" y="3319272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UX with 10 senior techs in Sprint 1. Voice input supported (Whisper STT). Zero login friction (phone-number linked). Gamification: tech leaderboard for fastest resolution.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0744200" y="3282696"/>
            <a:ext cx="13350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17352" y="3319272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Sales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502920" y="3904488"/>
            <a:ext cx="22494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" y="394106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— RPi offline due to SIM/power issues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2788920" y="3904488"/>
            <a:ext cx="8778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62072" y="3941064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3703320" y="3904488"/>
            <a:ext cx="78638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76472" y="3941064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526280" y="3904488"/>
            <a:ext cx="618134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9432" y="3941064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offline buffer (SQLite on device). Redundant Airtel + BSNL dual-SIM option. Heartbeat alert within 10 min of disconnect. Annual hardware refresh budget built in.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744200" y="3904488"/>
            <a:ext cx="13350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817352" y="3941064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502920" y="4526280"/>
            <a:ext cx="22494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" y="4562856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— Azure dependency risk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2788920" y="4526280"/>
            <a:ext cx="8778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62072" y="4562856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3703320" y="4526280"/>
            <a:ext cx="78638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76472" y="456285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4526280" y="4526280"/>
            <a:ext cx="618134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99432" y="4562856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 models stored in open MLflow format. Docker containers portable to AWS/GCP. n8n is self-hosted open-source. LangGraph is open-source. PGVector is PostgreSQL-native.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744200" y="4526280"/>
            <a:ext cx="1335024" cy="585216"/>
          </a:xfrm>
          <a:prstGeom prst="rect">
            <a:avLst/>
          </a:prstGeom>
          <a:solidFill>
            <a:srgbClr val="112240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817352" y="4562856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502920" y="5148072"/>
            <a:ext cx="22494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" y="5184648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Bias — Model performs poorly for older genset models (underrepresented in training)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2788920" y="5148072"/>
            <a:ext cx="8778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62072" y="5184648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80" dirty="0"/>
          </a:p>
        </p:txBody>
      </p:sp>
      <p:sp>
        <p:nvSpPr>
          <p:cNvPr id="79" name="Shape 77"/>
          <p:cNvSpPr/>
          <p:nvPr/>
        </p:nvSpPr>
        <p:spPr>
          <a:xfrm>
            <a:off x="3703320" y="5148072"/>
            <a:ext cx="78638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76472" y="518464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4526280" y="5148072"/>
            <a:ext cx="618134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99432" y="5184648"/>
            <a:ext cx="6053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in training data (genset model × age × geography). Per-cohort accuracy reporting. If accuracy &lt; 0.75 for any cohort, fall back to rule-based alerts for that segment.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0744200" y="5148072"/>
            <a:ext cx="1335024" cy="585216"/>
          </a:xfrm>
          <a:prstGeom prst="rect">
            <a:avLst/>
          </a:prstGeom>
          <a:solidFill>
            <a:srgbClr val="0D1F3C"/>
          </a:solidFill>
          <a:ln w="3175">
            <a:solidFill>
              <a:srgbClr val="1A3A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817352" y="5184648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AI GOVERNANCE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Compliance, Explainability &amp; Bias Controls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547872" cy="3977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38862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Fiduciary: Greaves Cotton registered as Data Fiduciary under DPDP.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Consent: Explicit opt-in consent collected from customers before any predictive alert SMS.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Localization: All data stored exclusively in Azure India Central region (Mumbai DC).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minimization: Name/phone masked in Delta Lake. Only anonymized asset ID used in ML.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erasure: Customer can request data deletion → automated purge workflow in n8n.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protocol: 72-hr notification SOP documented; Azure Defender for Cloud alerts.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85800" y="484632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DPO: Designated Data Protection Officer (Legal team member) assigned to project.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297680" y="1051560"/>
            <a:ext cx="3547872" cy="3977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97280"/>
            <a:ext cx="64008" cy="38862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15544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values: Every ML prediction includes top-3 feature contributions (e.g., 'Oil temp +18°C above baseline contributed 42% to risk score').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480560" y="210312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source attribution: Every LLM response shows which manual section/WO informed the answer.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480560" y="265176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display: Alert UI shows risk score + confidence interval, not just binary alert.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480560" y="320040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Every agentic action logged with inputs, model version, timestamp in immutable Azure Log Analytics.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480560" y="374904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explanations: 'If oil temp drops below 85°C, risk score would fall to 0.32' — shown to technicians.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480560" y="429768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language: Llama 3.1 translates SHAP output into Hindi/English natural language for field techs.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092440" y="1051560"/>
            <a:ext cx="3822192" cy="3977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2440" y="1097280"/>
            <a:ext cx="64008" cy="38862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CONTROLS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5320" y="155448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accuracy: Model evaluated separately for each genset model family, age bucket (0–3yr, 3–7yr, 7yr+), and geography (North/South/West India).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275320" y="210312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audit: Historical WOs reviewed for labeling bias (e.g., if older gensets were more often marked 'no fault found' due to tech skill gaps).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75320" y="265176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 cohorts: If training data &lt; 100 WOs for a cohort, rule-based fallback used instead of ML model for that cohort.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275320" y="320040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monitoring: Monthly fairness dashboard (accuracy, recall, false positive rate) per cohort. Auto-alert if any cohort drifts &gt; 5% from baseline.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275320" y="374904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audit: Bi-annual review by independent AI ethics consultant (budgeted ₹2L/yr).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02920" y="5193792"/>
            <a:ext cx="11503152" cy="82296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257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CADENCE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5532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Weekly: Model performance metrics reviewed by ML Eng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85800" y="5788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Bi-weekly: Sprint review with SME steering committee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617720" y="5532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Fairness dashboard + cohort accuracy review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617720" y="5788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DPDP compliance audit + penetration test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8549640" y="5532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Bi-annually: External AI ethics review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POST-LAUNCH: MLOPS &amp; MAINTENANCE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System Healthy, Accurate &amp; Trusted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547872" cy="3977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3886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drift: Evidently AI library runs nightly on incoming sensor distributions. Alert if KS-test p-value &lt; 0.05 for any feature.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drift: Model prediction accuracy compared against actual WO outcomes (7-day lag). Alert if F1 drops &gt; 5% from baseline.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85800" y="270662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shift: New genset models or geographies trigger automatic retraining check.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85800" y="32826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drift: RAG retrieval relevance scored weekly using a golden Q&amp;A eval set (100 questions). ROUGE-L threshold: &gt; 0.65.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5800" y="385876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Grafana dashboard shows live accuracy, drift scores, data volume, and LLM latency P50/P90/P99.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 PagerDuty integration for critical model degradation; Slack for non-critical warnings.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297680" y="1051560"/>
            <a:ext cx="3547872" cy="3977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97280"/>
            <a:ext cx="64008" cy="3886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155448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Automatic if F1 &lt; 0.82, or manual trigger by ML Eng via MLflow experiment UI.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480560" y="213055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Rolling 6-month WO history as training set. SME labels new ambiguous cases quarterly.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480560" y="270662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Azure ML pipeline (automated). XGBoost + LSTM trained in parallel. Best ensemble selected by validation F1.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480560" y="32826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Champion vs Challenger test on last 30-day holdout data. New model must beat by ≥ 2% to deploy.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480560" y="385876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A/B traffic split (10% challenger) → monitor 7 days → promote to 100% if metrics pass.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480560" y="443484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One-click rollback to previous model version in Azure ML. Zero-downtime using blue/green endpoints.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480560" y="501091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refresh: Re-index knowledge base when new manuals added. Triggered via CI/CD on document upload to Blob.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092440" y="1051560"/>
            <a:ext cx="3822192" cy="397764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2440" y="1097280"/>
            <a:ext cx="64008" cy="38862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OBSERVABILITY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5320" y="155448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tracing: OpenTelemetry + Azure Monitor Application Insights. Every agent call traced end-to-end.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275320" y="213055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observability: LangSmith captures every prompt, response, latency, and token count. Spot-review UI for quality.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75320" y="270662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health: Azure IoT Hub device twin tracks last-seen, battery voltage, connectivity status per unit.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275320" y="32826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monitoring: Azure Cost Management budget alerts (alert at 80% of monthly estimate). Token usage dashboarded.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275320" y="385876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tracking: WO auto-raise success rate, alert-to-tech-notified time, diagnostic accuracy — all in Executive Dashboard.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75320" y="443484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8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response: Runbook documented for 8 known failure modes (LLM timeout, IoT disconnect, ERP API outage).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5193792"/>
            <a:ext cx="11503152" cy="914400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257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CALENDAR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5559552"/>
            <a:ext cx="1828800" cy="475488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577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8952" y="5760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alerts + data pipeline SLA check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587752" y="5559552"/>
            <a:ext cx="1828800" cy="475488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5577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60904" y="5760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quality spot-review (50 sampled conversations)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489704" y="5559552"/>
            <a:ext cx="1828800" cy="475488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62856" y="5577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62856" y="5760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check + cohort accuracy report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391656" y="5559552"/>
            <a:ext cx="1828800" cy="475488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5577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64808" y="5760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 re-index + golden dataset expansion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293608" y="5559552"/>
            <a:ext cx="1828800" cy="475488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5577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Bi-annually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366760" y="5760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check + security penetration test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10195560" y="5559552"/>
            <a:ext cx="1828800" cy="475488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68712" y="5577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268712" y="5760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compliance audit + external AI ethics review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SCALING &amp; EXPANSION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500 Pilots to 10,000+ Units Across BUs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78892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A89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2788920" cy="411480"/>
          </a:xfrm>
          <a:prstGeom prst="rect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units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₹4–5 Cr ARR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BU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24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pilot units (3 zones)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models in production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team: 3.5 FTE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051560"/>
            <a:ext cx="278892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8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051560"/>
            <a:ext cx="2788920" cy="411480"/>
          </a:xfrm>
          <a:prstGeom prst="rect">
            <a:avLst/>
          </a:prstGeom>
          <a:solidFill>
            <a:srgbClr val="00C8FF">
              <a:alpha val="4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units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3872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₹12–15 Cr ARR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genset fleet expansion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624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+ AMC agents live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(Hindi, Tamil)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5,000+ customers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5080" y="1051560"/>
            <a:ext cx="278892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7C5CB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1051560"/>
            <a:ext cx="2788920" cy="411480"/>
          </a:xfrm>
          <a:prstGeom prst="rect">
            <a:avLst/>
          </a:prstGeom>
          <a:solidFill>
            <a:srgbClr val="7C5CBF">
              <a:alpha val="4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64808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units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6480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₹25–35 Cr ARR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BU: E-mobility (electric 3W)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2624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network portal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data sharing partnerships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scales to 6 FTE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1051560"/>
            <a:ext cx="278892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FFB80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81160" y="1051560"/>
            <a:ext cx="2788920" cy="411480"/>
          </a:xfrm>
          <a:prstGeom prst="rect">
            <a:avLst/>
          </a:prstGeom>
          <a:solidFill>
            <a:srgbClr val="FFB800">
              <a:alpha val="4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390888" y="10789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90888" y="15361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units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9088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₹50+ Cr ARR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0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+ export markets (Africa, SE Asia)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18320" y="2624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Greasedge-equivalent AI platform product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418320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to other OEMs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18320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IPO-ready data asset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736592"/>
            <a:ext cx="11155680" cy="1828800"/>
          </a:xfrm>
          <a:prstGeom prst="rect">
            <a:avLst/>
          </a:prstGeom>
          <a:solidFill>
            <a:srgbClr val="162C4A"/>
          </a:solidFill>
          <a:ln w="6350">
            <a:solidFill>
              <a:srgbClr val="00C8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" y="4782312"/>
            <a:ext cx="64008" cy="1737360"/>
          </a:xfrm>
          <a:prstGeom prst="rect">
            <a:avLst/>
          </a:prstGeom>
          <a:solidFill>
            <a:srgbClr val="00D084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80974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SCALING CONSIDERATIONS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5166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auto-scaling: 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2148840" y="51663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Horizontal Pod Autoscaler for agent microservices. LLM GPU cluster scales from 2→8 A100s via node pool. Alert at 70% GPU utilization.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" y="5605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volume: 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2148840" y="56052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handles petabyte scale natively. Partition by asset_id + date. Z-ordering on sensor_type for query performance. Archive cold data to Azure Blob (Cool tier) after 12 months.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63640" y="5166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(if white-labeled): 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7726680" y="51663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via PostgreSQL schemas + Azure AD B2C for auth. Each OEM tenant gets dedicated PGVector namespace. Shared LLM serving (cost efficiency) with per-tenant prompt injection.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63640" y="5605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fleet management: 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7726680" y="56052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Hub Device Update for mass FOTA. Max 10,000 devices per IoT Hub unit; add hub units as fleet grows. Edge device registry in Azure Digital Twins for complex fleet topology.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A33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017520"/>
            <a:ext cx="12161520" cy="54864"/>
          </a:xfrm>
          <a:prstGeom prst="rect">
            <a:avLst/>
          </a:prstGeom>
          <a:solidFill>
            <a:srgbClr val="00C8FF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731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188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3-year transformation.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6-month sprint to a ₹25 Cr opportunity.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" y="2423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we delay, a competitor or a 3rd-party dealer captures the service event we should own.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2697480" cy="1005840"/>
          </a:xfrm>
          <a:prstGeom prst="rect">
            <a:avLst/>
          </a:prstGeom>
          <a:solidFill>
            <a:srgbClr val="162C4A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310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35844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₹1.5 Cr budget &amp; team mandate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397764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3246120"/>
            <a:ext cx="2697480" cy="1005840"/>
          </a:xfrm>
          <a:prstGeom prst="rect">
            <a:avLst/>
          </a:prstGeom>
          <a:solidFill>
            <a:srgbClr val="162C4A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84448" y="3310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84448" y="35844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IoT SIM &amp; Azure India contracts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84448" y="397764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246120"/>
            <a:ext cx="2697480" cy="1005840"/>
          </a:xfrm>
          <a:prstGeom prst="rect">
            <a:avLst/>
          </a:prstGeom>
          <a:solidFill>
            <a:srgbClr val="162C4A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9088" y="3310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19088" y="35844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Sprint 1: 10-unit IoT pilot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19088" y="397764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0" y="3246120"/>
            <a:ext cx="2697480" cy="1005840"/>
          </a:xfrm>
          <a:prstGeom prst="rect">
            <a:avLst/>
          </a:prstGeom>
          <a:solidFill>
            <a:srgbClr val="162C4A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53728" y="33101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253728" y="35844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AI-assisted diagnosis goes live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53728" y="397764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434840"/>
            <a:ext cx="2176272" cy="777240"/>
          </a:xfrm>
          <a:prstGeom prst="rect">
            <a:avLst/>
          </a:prstGeom>
          <a:solidFill>
            <a:srgbClr val="081A30"/>
          </a:solidFill>
          <a:ln w="10160">
            <a:solidFill>
              <a:srgbClr val="00D08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4805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₹1.49 Cr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13232" y="484632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6M Investment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44368" y="4434840"/>
            <a:ext cx="2176272" cy="777240"/>
          </a:xfrm>
          <a:prstGeom prst="rect">
            <a:avLst/>
          </a:prstGeom>
          <a:solidFill>
            <a:srgbClr val="081A30"/>
          </a:solidFill>
          <a:ln w="10160">
            <a:solidFill>
              <a:srgbClr val="00D08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4805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₹18–25 Cr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3017520" y="484632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Revenue Uplift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48656" y="4434840"/>
            <a:ext cx="2176272" cy="777240"/>
          </a:xfrm>
          <a:prstGeom prst="rect">
            <a:avLst/>
          </a:prstGeom>
          <a:solidFill>
            <a:srgbClr val="081A30"/>
          </a:solidFill>
          <a:ln w="10160">
            <a:solidFill>
              <a:srgbClr val="00D08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44805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12–17x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5321808" y="484632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52944" y="4434840"/>
            <a:ext cx="2176272" cy="777240"/>
          </a:xfrm>
          <a:prstGeom prst="rect">
            <a:avLst/>
          </a:prstGeom>
          <a:solidFill>
            <a:srgbClr val="081A30"/>
          </a:solidFill>
          <a:ln w="10160">
            <a:solidFill>
              <a:srgbClr val="00D08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6096" y="44805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months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626096" y="484632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857232" y="4434840"/>
            <a:ext cx="2176272" cy="777240"/>
          </a:xfrm>
          <a:prstGeom prst="rect">
            <a:avLst/>
          </a:prstGeom>
          <a:solidFill>
            <a:srgbClr val="081A30"/>
          </a:solidFill>
          <a:ln w="10160">
            <a:solidFill>
              <a:srgbClr val="00D08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30384" y="44805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Ready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930384" y="4846320"/>
            <a:ext cx="2029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Built-in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0080" y="54406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Kumar  |  Principal Architect &amp; PM  |  AI CoE, Greaves Cotton  |  May 2026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57607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Strategic Document</a:t>
            </a:r>
            <a:endParaRPr lang="en-US" sz="90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515600" y="5029200"/>
            <a:ext cx="1371600" cy="137160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179576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Predictive Maintenance – Greaves Cotton</dc:title>
  <dc:subject>PptxGenJS Presentation</dc:subject>
  <dc:creator>Neeraj Kumar</dc:creator>
  <cp:lastModifiedBy>Neeraj Kumar</cp:lastModifiedBy>
  <cp:revision>1</cp:revision>
  <dcterms:created xsi:type="dcterms:W3CDTF">2026-05-01T10:28:15Z</dcterms:created>
  <dcterms:modified xsi:type="dcterms:W3CDTF">2026-05-01T10:28:15Z</dcterms:modified>
</cp:coreProperties>
</file>